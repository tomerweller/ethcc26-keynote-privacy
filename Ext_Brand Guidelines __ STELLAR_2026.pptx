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3600000" cx="9144000"/>
  <p:notesSz cx="6858000" cy="9144000"/>
  <p:embeddedFontLst>
    <p:embeddedFont>
      <p:font typeface="Inter"/>
      <p:regular r:id="rId11"/>
      <p:bold r:id="rId12"/>
      <p:italic r:id="rId13"/>
      <p:boldItalic r:id="rId14"/>
    </p:embeddedFont>
    <p:embeddedFont>
      <p:font typeface="Lora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font" Target="fonts/Inter-regular.fntdata"/><Relationship Id="rId10" Type="http://schemas.openxmlformats.org/officeDocument/2006/relationships/slide" Target="slides/slide6.xml"/><Relationship Id="rId13" Type="http://schemas.openxmlformats.org/officeDocument/2006/relationships/font" Target="fonts/Inter-italic.fntdata"/><Relationship Id="rId12" Type="http://schemas.openxmlformats.org/officeDocument/2006/relationships/font" Target="fonts/Inter-bold.fntdata"/><Relationship Id="rId15" Type="http://schemas.openxmlformats.org/officeDocument/2006/relationships/font" Target="fonts/Lora-regular.fntdata"/><Relationship Id="rId14" Type="http://schemas.openxmlformats.org/officeDocument/2006/relationships/font" Target="fonts/Inter-boldItalic.fntdata"/><Relationship Id="rId17" Type="http://schemas.openxmlformats.org/officeDocument/2006/relationships/font" Target="fonts/Lora-italic.fntdata"/><Relationship Id="rId16" Type="http://schemas.openxmlformats.org/officeDocument/2006/relationships/font" Target="fonts/Lora-bold.fntdata"/><Relationship Id="rId18" Type="http://schemas.openxmlformats.org/officeDocument/2006/relationships/font" Target="fonts/Lora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-925546" y="685800"/>
            <a:ext cx="8709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8f3dcf61b_1_24:notes"/>
          <p:cNvSpPr/>
          <p:nvPr>
            <p:ph idx="2" type="sldImg"/>
          </p:nvPr>
        </p:nvSpPr>
        <p:spPr>
          <a:xfrm>
            <a:off x="-925546" y="685800"/>
            <a:ext cx="8709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8f3dcf61b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32f3e55ef1_0_117:notes"/>
          <p:cNvSpPr/>
          <p:nvPr>
            <p:ph idx="2" type="sldImg"/>
          </p:nvPr>
        </p:nvSpPr>
        <p:spPr>
          <a:xfrm>
            <a:off x="-925546" y="685800"/>
            <a:ext cx="8709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32f3e55ef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3985fd65bb_0_470:notes"/>
          <p:cNvSpPr/>
          <p:nvPr>
            <p:ph idx="2" type="sldImg"/>
          </p:nvPr>
        </p:nvSpPr>
        <p:spPr>
          <a:xfrm>
            <a:off x="-925546" y="685800"/>
            <a:ext cx="8709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3985fd65bb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63d57e32c_0_0:notes"/>
          <p:cNvSpPr/>
          <p:nvPr>
            <p:ph idx="2" type="sldImg"/>
          </p:nvPr>
        </p:nvSpPr>
        <p:spPr>
          <a:xfrm>
            <a:off x="-925546" y="685800"/>
            <a:ext cx="8709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63d57e3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63d57e32c_0_38:notes"/>
          <p:cNvSpPr/>
          <p:nvPr>
            <p:ph idx="2" type="sldImg"/>
          </p:nvPr>
        </p:nvSpPr>
        <p:spPr>
          <a:xfrm>
            <a:off x="-925546" y="685800"/>
            <a:ext cx="8709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63d57e32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63d57e32c_0_90:notes"/>
          <p:cNvSpPr/>
          <p:nvPr>
            <p:ph idx="2" type="sldImg"/>
          </p:nvPr>
        </p:nvSpPr>
        <p:spPr>
          <a:xfrm>
            <a:off x="-925546" y="685800"/>
            <a:ext cx="8709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963d57e32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521137"/>
            <a:ext cx="8520600" cy="143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1983640"/>
            <a:ext cx="8520600" cy="5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3263844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1505407"/>
            <a:ext cx="8520600" cy="58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3263844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311479"/>
            <a:ext cx="8520600" cy="4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806632"/>
            <a:ext cx="8520600" cy="23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3263844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311479"/>
            <a:ext cx="8520600" cy="4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806632"/>
            <a:ext cx="3999900" cy="23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806632"/>
            <a:ext cx="3999900" cy="23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3263844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311479"/>
            <a:ext cx="8520600" cy="4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3263844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388871"/>
            <a:ext cx="2808000" cy="52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972598"/>
            <a:ext cx="2808000" cy="22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3263844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315066"/>
            <a:ext cx="6367800" cy="286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3263844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87"/>
            <a:ext cx="4572000" cy="36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863115"/>
            <a:ext cx="4045200" cy="10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1961907"/>
            <a:ext cx="4045200" cy="8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506789"/>
            <a:ext cx="3837000" cy="25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3263844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2961032"/>
            <a:ext cx="5998800" cy="4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3263844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774191"/>
            <a:ext cx="8520600" cy="137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2206282"/>
            <a:ext cx="85206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3263844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3263844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1479"/>
            <a:ext cx="8520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06632"/>
            <a:ext cx="8520600" cy="23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3263844"/>
            <a:ext cx="5487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37.png"/><Relationship Id="rId5" Type="http://schemas.openxmlformats.org/officeDocument/2006/relationships/hyperlink" Target="https://drive.google.com/drive/folders/1Q-LwQADGdsN793Mr7jXWKBpQea9wYQOd?usp=drive_link" TargetMode="External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2.png"/><Relationship Id="rId22" Type="http://schemas.openxmlformats.org/officeDocument/2006/relationships/image" Target="../media/image27.png"/><Relationship Id="rId21" Type="http://schemas.openxmlformats.org/officeDocument/2006/relationships/image" Target="../media/image23.png"/><Relationship Id="rId24" Type="http://schemas.openxmlformats.org/officeDocument/2006/relationships/image" Target="../media/image18.png"/><Relationship Id="rId23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26" Type="http://schemas.openxmlformats.org/officeDocument/2006/relationships/image" Target="../media/image20.png"/><Relationship Id="rId25" Type="http://schemas.openxmlformats.org/officeDocument/2006/relationships/image" Target="../media/image30.png"/><Relationship Id="rId27" Type="http://schemas.openxmlformats.org/officeDocument/2006/relationships/image" Target="../media/image25.png"/><Relationship Id="rId5" Type="http://schemas.openxmlformats.org/officeDocument/2006/relationships/image" Target="../media/image5.png"/><Relationship Id="rId6" Type="http://schemas.openxmlformats.org/officeDocument/2006/relationships/image" Target="../media/image17.png"/><Relationship Id="rId7" Type="http://schemas.openxmlformats.org/officeDocument/2006/relationships/image" Target="../media/image19.png"/><Relationship Id="rId8" Type="http://schemas.openxmlformats.org/officeDocument/2006/relationships/image" Target="../media/image15.png"/><Relationship Id="rId11" Type="http://schemas.openxmlformats.org/officeDocument/2006/relationships/image" Target="../media/image8.png"/><Relationship Id="rId10" Type="http://schemas.openxmlformats.org/officeDocument/2006/relationships/image" Target="../media/image4.png"/><Relationship Id="rId13" Type="http://schemas.openxmlformats.org/officeDocument/2006/relationships/image" Target="../media/image7.png"/><Relationship Id="rId12" Type="http://schemas.openxmlformats.org/officeDocument/2006/relationships/image" Target="../media/image2.png"/><Relationship Id="rId15" Type="http://schemas.openxmlformats.org/officeDocument/2006/relationships/image" Target="../media/image12.png"/><Relationship Id="rId14" Type="http://schemas.openxmlformats.org/officeDocument/2006/relationships/image" Target="../media/image16.png"/><Relationship Id="rId17" Type="http://schemas.openxmlformats.org/officeDocument/2006/relationships/image" Target="../media/image14.png"/><Relationship Id="rId16" Type="http://schemas.openxmlformats.org/officeDocument/2006/relationships/image" Target="../media/image1.png"/><Relationship Id="rId19" Type="http://schemas.openxmlformats.org/officeDocument/2006/relationships/image" Target="../media/image11.png"/><Relationship Id="rId18" Type="http://schemas.openxmlformats.org/officeDocument/2006/relationships/image" Target="../media/image3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40" Type="http://schemas.openxmlformats.org/officeDocument/2006/relationships/hyperlink" Target="https://drive.google.com/drive/folders/1LQYvowqrcw7uewjtH6D1tTVVfpTAR67q?usp=drive_link" TargetMode="External"/><Relationship Id="rId20" Type="http://schemas.openxmlformats.org/officeDocument/2006/relationships/image" Target="../media/image42.png"/><Relationship Id="rId22" Type="http://schemas.openxmlformats.org/officeDocument/2006/relationships/image" Target="../media/image44.png"/><Relationship Id="rId21" Type="http://schemas.openxmlformats.org/officeDocument/2006/relationships/image" Target="../media/image50.png"/><Relationship Id="rId24" Type="http://schemas.openxmlformats.org/officeDocument/2006/relationships/image" Target="../media/image59.png"/><Relationship Id="rId23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Relationship Id="rId9" Type="http://schemas.openxmlformats.org/officeDocument/2006/relationships/image" Target="../media/image31.png"/><Relationship Id="rId26" Type="http://schemas.openxmlformats.org/officeDocument/2006/relationships/image" Target="../media/image49.png"/><Relationship Id="rId25" Type="http://schemas.openxmlformats.org/officeDocument/2006/relationships/image" Target="../media/image71.png"/><Relationship Id="rId28" Type="http://schemas.openxmlformats.org/officeDocument/2006/relationships/image" Target="../media/image55.png"/><Relationship Id="rId27" Type="http://schemas.openxmlformats.org/officeDocument/2006/relationships/image" Target="../media/image102.png"/><Relationship Id="rId5" Type="http://schemas.openxmlformats.org/officeDocument/2006/relationships/image" Target="../media/image45.png"/><Relationship Id="rId6" Type="http://schemas.openxmlformats.org/officeDocument/2006/relationships/image" Target="../media/image21.png"/><Relationship Id="rId29" Type="http://schemas.openxmlformats.org/officeDocument/2006/relationships/image" Target="../media/image46.png"/><Relationship Id="rId7" Type="http://schemas.openxmlformats.org/officeDocument/2006/relationships/image" Target="../media/image26.png"/><Relationship Id="rId8" Type="http://schemas.openxmlformats.org/officeDocument/2006/relationships/image" Target="../media/image41.png"/><Relationship Id="rId31" Type="http://schemas.openxmlformats.org/officeDocument/2006/relationships/image" Target="../media/image61.png"/><Relationship Id="rId30" Type="http://schemas.openxmlformats.org/officeDocument/2006/relationships/image" Target="../media/image64.png"/><Relationship Id="rId11" Type="http://schemas.openxmlformats.org/officeDocument/2006/relationships/image" Target="../media/image29.png"/><Relationship Id="rId33" Type="http://schemas.openxmlformats.org/officeDocument/2006/relationships/image" Target="../media/image48.png"/><Relationship Id="rId10" Type="http://schemas.openxmlformats.org/officeDocument/2006/relationships/image" Target="../media/image54.png"/><Relationship Id="rId32" Type="http://schemas.openxmlformats.org/officeDocument/2006/relationships/image" Target="../media/image52.png"/><Relationship Id="rId13" Type="http://schemas.openxmlformats.org/officeDocument/2006/relationships/image" Target="../media/image39.png"/><Relationship Id="rId35" Type="http://schemas.openxmlformats.org/officeDocument/2006/relationships/image" Target="../media/image58.png"/><Relationship Id="rId12" Type="http://schemas.openxmlformats.org/officeDocument/2006/relationships/image" Target="../media/image36.png"/><Relationship Id="rId34" Type="http://schemas.openxmlformats.org/officeDocument/2006/relationships/image" Target="../media/image57.png"/><Relationship Id="rId15" Type="http://schemas.openxmlformats.org/officeDocument/2006/relationships/image" Target="../media/image40.png"/><Relationship Id="rId37" Type="http://schemas.openxmlformats.org/officeDocument/2006/relationships/image" Target="../media/image56.png"/><Relationship Id="rId14" Type="http://schemas.openxmlformats.org/officeDocument/2006/relationships/image" Target="../media/image35.png"/><Relationship Id="rId36" Type="http://schemas.openxmlformats.org/officeDocument/2006/relationships/image" Target="../media/image69.png"/><Relationship Id="rId17" Type="http://schemas.openxmlformats.org/officeDocument/2006/relationships/image" Target="../media/image53.png"/><Relationship Id="rId39" Type="http://schemas.openxmlformats.org/officeDocument/2006/relationships/image" Target="../media/image63.png"/><Relationship Id="rId16" Type="http://schemas.openxmlformats.org/officeDocument/2006/relationships/image" Target="../media/image38.png"/><Relationship Id="rId38" Type="http://schemas.openxmlformats.org/officeDocument/2006/relationships/image" Target="../media/image98.png"/><Relationship Id="rId19" Type="http://schemas.openxmlformats.org/officeDocument/2006/relationships/image" Target="../media/image47.png"/><Relationship Id="rId18" Type="http://schemas.openxmlformats.org/officeDocument/2006/relationships/image" Target="../media/image43.png"/></Relationships>
</file>

<file path=ppt/slides/_rels/slide6.xml.rels><?xml version="1.0" encoding="UTF-8" standalone="yes"?><Relationships xmlns="http://schemas.openxmlformats.org/package/2006/relationships"><Relationship Id="rId40" Type="http://schemas.openxmlformats.org/officeDocument/2006/relationships/hyperlink" Target="https://drive.google.com/drive/folders/1lOgt3U585ouVM7qM9ANXWE-0Np8CkszG?usp=drive_link" TargetMode="External"/><Relationship Id="rId20" Type="http://schemas.openxmlformats.org/officeDocument/2006/relationships/image" Target="../media/image79.png"/><Relationship Id="rId22" Type="http://schemas.openxmlformats.org/officeDocument/2006/relationships/image" Target="../media/image75.png"/><Relationship Id="rId21" Type="http://schemas.openxmlformats.org/officeDocument/2006/relationships/image" Target="../media/image87.png"/><Relationship Id="rId24" Type="http://schemas.openxmlformats.org/officeDocument/2006/relationships/image" Target="../media/image82.png"/><Relationship Id="rId23" Type="http://schemas.openxmlformats.org/officeDocument/2006/relationships/image" Target="../media/image7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2.png"/><Relationship Id="rId4" Type="http://schemas.openxmlformats.org/officeDocument/2006/relationships/image" Target="../media/image65.png"/><Relationship Id="rId9" Type="http://schemas.openxmlformats.org/officeDocument/2006/relationships/image" Target="../media/image84.png"/><Relationship Id="rId26" Type="http://schemas.openxmlformats.org/officeDocument/2006/relationships/image" Target="../media/image83.png"/><Relationship Id="rId25" Type="http://schemas.openxmlformats.org/officeDocument/2006/relationships/image" Target="../media/image86.png"/><Relationship Id="rId28" Type="http://schemas.openxmlformats.org/officeDocument/2006/relationships/image" Target="../media/image101.png"/><Relationship Id="rId27" Type="http://schemas.openxmlformats.org/officeDocument/2006/relationships/image" Target="../media/image95.png"/><Relationship Id="rId5" Type="http://schemas.openxmlformats.org/officeDocument/2006/relationships/image" Target="../media/image68.png"/><Relationship Id="rId6" Type="http://schemas.openxmlformats.org/officeDocument/2006/relationships/image" Target="../media/image60.png"/><Relationship Id="rId29" Type="http://schemas.openxmlformats.org/officeDocument/2006/relationships/image" Target="../media/image92.png"/><Relationship Id="rId7" Type="http://schemas.openxmlformats.org/officeDocument/2006/relationships/image" Target="../media/image66.png"/><Relationship Id="rId8" Type="http://schemas.openxmlformats.org/officeDocument/2006/relationships/image" Target="../media/image74.png"/><Relationship Id="rId31" Type="http://schemas.openxmlformats.org/officeDocument/2006/relationships/image" Target="../media/image90.png"/><Relationship Id="rId30" Type="http://schemas.openxmlformats.org/officeDocument/2006/relationships/image" Target="../media/image80.png"/><Relationship Id="rId11" Type="http://schemas.openxmlformats.org/officeDocument/2006/relationships/image" Target="../media/image70.png"/><Relationship Id="rId33" Type="http://schemas.openxmlformats.org/officeDocument/2006/relationships/image" Target="../media/image100.png"/><Relationship Id="rId10" Type="http://schemas.openxmlformats.org/officeDocument/2006/relationships/image" Target="../media/image77.png"/><Relationship Id="rId32" Type="http://schemas.openxmlformats.org/officeDocument/2006/relationships/image" Target="../media/image93.png"/><Relationship Id="rId13" Type="http://schemas.openxmlformats.org/officeDocument/2006/relationships/image" Target="../media/image81.png"/><Relationship Id="rId35" Type="http://schemas.openxmlformats.org/officeDocument/2006/relationships/image" Target="../media/image97.png"/><Relationship Id="rId12" Type="http://schemas.openxmlformats.org/officeDocument/2006/relationships/image" Target="../media/image89.png"/><Relationship Id="rId34" Type="http://schemas.openxmlformats.org/officeDocument/2006/relationships/image" Target="../media/image96.png"/><Relationship Id="rId15" Type="http://schemas.openxmlformats.org/officeDocument/2006/relationships/image" Target="../media/image67.png"/><Relationship Id="rId37" Type="http://schemas.openxmlformats.org/officeDocument/2006/relationships/image" Target="../media/image94.png"/><Relationship Id="rId14" Type="http://schemas.openxmlformats.org/officeDocument/2006/relationships/image" Target="../media/image73.png"/><Relationship Id="rId36" Type="http://schemas.openxmlformats.org/officeDocument/2006/relationships/image" Target="../media/image103.png"/><Relationship Id="rId17" Type="http://schemas.openxmlformats.org/officeDocument/2006/relationships/image" Target="../media/image72.png"/><Relationship Id="rId39" Type="http://schemas.openxmlformats.org/officeDocument/2006/relationships/image" Target="../media/image91.png"/><Relationship Id="rId16" Type="http://schemas.openxmlformats.org/officeDocument/2006/relationships/image" Target="../media/image78.png"/><Relationship Id="rId38" Type="http://schemas.openxmlformats.org/officeDocument/2006/relationships/image" Target="../media/image99.png"/><Relationship Id="rId19" Type="http://schemas.openxmlformats.org/officeDocument/2006/relationships/image" Target="../media/image88.png"/><Relationship Id="rId18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70300" y="710250"/>
            <a:ext cx="50016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72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Brand</a:t>
            </a:r>
            <a:r>
              <a:rPr lang="nl" sz="72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endParaRPr sz="72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72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Guidelines</a:t>
            </a:r>
            <a:endParaRPr sz="72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82900" y="582163"/>
            <a:ext cx="3612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9600">
                <a:solidFill>
                  <a:srgbClr val="FDDA24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9600">
              <a:solidFill>
                <a:srgbClr val="FDDA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274600" y="425281"/>
            <a:ext cx="8597400" cy="0"/>
          </a:xfrm>
          <a:prstGeom prst="straightConnector1">
            <a:avLst/>
          </a:prstGeom>
          <a:noFill/>
          <a:ln cap="flat" cmpd="sng" w="9525">
            <a:solidFill>
              <a:srgbClr val="FFDA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13"/>
          <p:cNvSpPr txBox="1"/>
          <p:nvPr/>
        </p:nvSpPr>
        <p:spPr>
          <a:xfrm>
            <a:off x="3418899" y="59672"/>
            <a:ext cx="230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Brand Guidelines </a:t>
            </a:r>
            <a:r>
              <a:rPr lang="nl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2026</a:t>
            </a:r>
            <a:endParaRPr sz="9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76675" y="59872"/>
            <a:ext cx="291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nl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Stellar Development Foundation</a:t>
            </a:r>
            <a:endParaRPr b="1" i="1" sz="9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21431" y="98842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i="1" lang="nl" sz="850">
                <a:solidFill>
                  <a:srgbClr val="F6F7F8"/>
                </a:solidFill>
                <a:latin typeface="Lora"/>
                <a:ea typeface="Lora"/>
                <a:cs typeface="Lora"/>
                <a:sym typeface="Lora"/>
              </a:rPr>
              <a:t>P. 0</a:t>
            </a:r>
            <a:fld id="{00000000-1234-1234-1234-123412341234}" type="slidenum">
              <a:rPr b="1" i="1" lang="nl" sz="850">
                <a:solidFill>
                  <a:srgbClr val="F6F7F8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b="1" i="1" sz="850">
              <a:solidFill>
                <a:srgbClr val="F6F7F8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275" y="1341101"/>
            <a:ext cx="1998952" cy="7144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" name="Google Shape;65;p14"/>
          <p:cNvCxnSpPr/>
          <p:nvPr/>
        </p:nvCxnSpPr>
        <p:spPr>
          <a:xfrm>
            <a:off x="274600" y="425281"/>
            <a:ext cx="8597400" cy="0"/>
          </a:xfrm>
          <a:prstGeom prst="straightConnector1">
            <a:avLst/>
          </a:prstGeom>
          <a:noFill/>
          <a:ln cap="flat" cmpd="sng" w="9525">
            <a:solidFill>
              <a:srgbClr val="FFDA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" name="Google Shape;66;p14"/>
          <p:cNvSpPr txBox="1"/>
          <p:nvPr/>
        </p:nvSpPr>
        <p:spPr>
          <a:xfrm>
            <a:off x="3418899" y="59672"/>
            <a:ext cx="230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Brand Guidelines </a:t>
            </a:r>
            <a:r>
              <a:rPr lang="nl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2026</a:t>
            </a:r>
            <a:endParaRPr sz="9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76675" y="59872"/>
            <a:ext cx="291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nl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Stellar Development Foundation</a:t>
            </a:r>
            <a:endParaRPr b="1" i="1" sz="9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75750" y="395584"/>
            <a:ext cx="105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F6F7F8"/>
                </a:solidFill>
                <a:latin typeface="Lora"/>
                <a:ea typeface="Lora"/>
                <a:cs typeface="Lora"/>
                <a:sym typeface="Lora"/>
              </a:rPr>
              <a:t>Brand</a:t>
            </a:r>
            <a:r>
              <a:rPr lang="nl" sz="1200">
                <a:solidFill>
                  <a:srgbClr val="F6F7F8"/>
                </a:solidFill>
                <a:latin typeface="Lora"/>
                <a:ea typeface="Lora"/>
                <a:cs typeface="Lora"/>
                <a:sym typeface="Lora"/>
              </a:rPr>
              <a:t> logos</a:t>
            </a:r>
            <a:endParaRPr sz="1200">
              <a:solidFill>
                <a:srgbClr val="F6F7F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275735" y="685705"/>
            <a:ext cx="2417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85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We have adjusted these </a:t>
            </a:r>
            <a:r>
              <a:rPr b="1" i="1" lang="nl" sz="850">
                <a:solidFill>
                  <a:srgbClr val="F6F7F8"/>
                </a:solidFill>
                <a:latin typeface="Lora"/>
                <a:ea typeface="Lora"/>
                <a:cs typeface="Lora"/>
                <a:sym typeface="Lora"/>
              </a:rPr>
              <a:t>2 logos</a:t>
            </a:r>
            <a:r>
              <a:rPr lang="nl" sz="85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 to always include the Stellar Monogram.</a:t>
            </a:r>
            <a:endParaRPr sz="850">
              <a:solidFill>
                <a:srgbClr val="F6F7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320432" y="3049374"/>
            <a:ext cx="258650" cy="26109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583709" y="3023150"/>
            <a:ext cx="105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nl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Download</a:t>
            </a:r>
            <a:r>
              <a:rPr lang="nl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Logos</a:t>
            </a:r>
            <a:endParaRPr sz="9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2" name="Google Shape;72;p14"/>
          <p:cNvSpPr txBox="1"/>
          <p:nvPr>
            <p:ph idx="12" type="sldNum"/>
          </p:nvPr>
        </p:nvSpPr>
        <p:spPr>
          <a:xfrm>
            <a:off x="8421431" y="98842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i="1" lang="nl" sz="850">
                <a:solidFill>
                  <a:srgbClr val="F6F7F8"/>
                </a:solidFill>
                <a:latin typeface="Lora"/>
                <a:ea typeface="Lora"/>
                <a:cs typeface="Lora"/>
                <a:sym typeface="Lora"/>
              </a:rPr>
              <a:t>P. 0</a:t>
            </a:r>
            <a:fld id="{00000000-1234-1234-1234-123412341234}" type="slidenum">
              <a:rPr b="1" i="1" lang="nl" sz="850">
                <a:solidFill>
                  <a:srgbClr val="F6F7F8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b="1" i="1" sz="850">
              <a:solidFill>
                <a:srgbClr val="F6F7F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3" name="Google Shape;73;p14">
            <a:hlinkClick r:id="rId5"/>
          </p:cNvPr>
          <p:cNvSpPr/>
          <p:nvPr/>
        </p:nvSpPr>
        <p:spPr>
          <a:xfrm>
            <a:off x="337428" y="3050600"/>
            <a:ext cx="12993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3216318" y="410384"/>
            <a:ext cx="105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F6F7F8"/>
                </a:solidFill>
                <a:latin typeface="Lora"/>
                <a:ea typeface="Lora"/>
                <a:cs typeface="Lora"/>
                <a:sym typeface="Lora"/>
              </a:rPr>
              <a:t>Typography</a:t>
            </a:r>
            <a:endParaRPr sz="1200">
              <a:solidFill>
                <a:srgbClr val="F6F7F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3216318" y="685705"/>
            <a:ext cx="2417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85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Two main serif and sans-serif fonts paired for branding.</a:t>
            </a:r>
            <a:endParaRPr sz="850">
              <a:solidFill>
                <a:srgbClr val="F6F7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6226205" y="410384"/>
            <a:ext cx="105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F6F7F8"/>
                </a:solidFill>
                <a:latin typeface="Lora"/>
                <a:ea typeface="Lora"/>
                <a:cs typeface="Lora"/>
                <a:sym typeface="Lora"/>
              </a:rPr>
              <a:t>Color</a:t>
            </a:r>
            <a:endParaRPr sz="1200">
              <a:solidFill>
                <a:srgbClr val="F6F7F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6226212" y="685700"/>
            <a:ext cx="942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85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Primary</a:t>
            </a:r>
            <a:endParaRPr sz="850">
              <a:solidFill>
                <a:srgbClr val="F6F7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3216318" y="1519275"/>
            <a:ext cx="7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2200">
                <a:solidFill>
                  <a:srgbClr val="F6F7F8"/>
                </a:solidFill>
                <a:latin typeface="Lora"/>
                <a:ea typeface="Lora"/>
                <a:cs typeface="Lora"/>
                <a:sym typeface="Lora"/>
              </a:rPr>
              <a:t>Lora</a:t>
            </a:r>
            <a:endParaRPr sz="2200">
              <a:solidFill>
                <a:srgbClr val="F6F7F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3216318" y="2555600"/>
            <a:ext cx="7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220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Inter</a:t>
            </a:r>
            <a:endParaRPr sz="2200">
              <a:solidFill>
                <a:srgbClr val="F6F7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7734864" y="866989"/>
            <a:ext cx="57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nl" sz="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Print</a:t>
            </a:r>
            <a:endParaRPr b="1" i="1" sz="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PANTONE</a:t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CMYK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6663775" y="866989"/>
            <a:ext cx="57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nl" sz="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Online</a:t>
            </a:r>
            <a:endParaRPr b="1" i="1" sz="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RGB</a:t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HEX #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8181157" y="866989"/>
            <a:ext cx="85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115 C</a:t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 / 14 / 100 / 0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7025956" y="866989"/>
            <a:ext cx="85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253 / 218 / 36</a:t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FDDA24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7734337" y="1211714"/>
            <a:ext cx="57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nl" sz="700">
                <a:solidFill>
                  <a:srgbClr val="F6F7F8"/>
                </a:solidFill>
                <a:latin typeface="Lora"/>
                <a:ea typeface="Lora"/>
                <a:cs typeface="Lora"/>
                <a:sym typeface="Lora"/>
              </a:rPr>
              <a:t>Print</a:t>
            </a:r>
            <a:endParaRPr b="1" i="1" sz="700">
              <a:solidFill>
                <a:srgbClr val="F6F7F8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PANTONE</a:t>
            </a:r>
            <a:endParaRPr sz="600">
              <a:solidFill>
                <a:srgbClr val="F6F7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CMYK</a:t>
            </a:r>
            <a:endParaRPr sz="700">
              <a:solidFill>
                <a:srgbClr val="F6F7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6663775" y="1211714"/>
            <a:ext cx="57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nl" sz="700">
                <a:solidFill>
                  <a:srgbClr val="F6F7F8"/>
                </a:solidFill>
                <a:latin typeface="Lora"/>
                <a:ea typeface="Lora"/>
                <a:cs typeface="Lora"/>
                <a:sym typeface="Lora"/>
              </a:rPr>
              <a:t>Online</a:t>
            </a:r>
            <a:endParaRPr b="1" i="1" sz="700">
              <a:solidFill>
                <a:srgbClr val="F6F7F8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RGB</a:t>
            </a:r>
            <a:endParaRPr sz="600">
              <a:solidFill>
                <a:srgbClr val="F6F7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HEX #</a:t>
            </a:r>
            <a:endParaRPr sz="700">
              <a:solidFill>
                <a:srgbClr val="F6F7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8180643" y="1211714"/>
            <a:ext cx="894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6F7F8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PROCESS BLACK C</a:t>
            </a:r>
            <a:endParaRPr sz="600">
              <a:solidFill>
                <a:srgbClr val="F6F7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0 / 0 / 0 / 100</a:t>
            </a:r>
            <a:endParaRPr sz="700">
              <a:solidFill>
                <a:srgbClr val="F6F7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7025956" y="1211714"/>
            <a:ext cx="85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6F7F8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15 / /15 /15</a:t>
            </a:r>
            <a:endParaRPr sz="600">
              <a:solidFill>
                <a:srgbClr val="F6F7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0F0F0F</a:t>
            </a:r>
            <a:endParaRPr sz="700">
              <a:solidFill>
                <a:srgbClr val="F6F7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7751216" y="1553305"/>
            <a:ext cx="573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nl" sz="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Print</a:t>
            </a:r>
            <a:endParaRPr b="1" i="1" sz="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CMYK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6663775" y="1553305"/>
            <a:ext cx="57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nl" sz="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Online</a:t>
            </a:r>
            <a:endParaRPr b="1" i="1" sz="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RGB</a:t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HEX #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8197515" y="1553305"/>
            <a:ext cx="858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 / 0 / 0 / 0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7025956" y="1553305"/>
            <a:ext cx="85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246 / 247 / 248</a:t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F6F7F8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7747355" y="2106830"/>
            <a:ext cx="57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nl" sz="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Print</a:t>
            </a:r>
            <a:endParaRPr b="1" i="1" sz="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PANTONE</a:t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CMYK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6656895" y="2106830"/>
            <a:ext cx="57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nl" sz="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Online</a:t>
            </a:r>
            <a:endParaRPr b="1" i="1" sz="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RGB</a:t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HEX #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8193648" y="2106830"/>
            <a:ext cx="85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7527 C</a:t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3 / 4 / 14 / 8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019075" y="2106830"/>
            <a:ext cx="85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214 / 210 / 196</a:t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D6D2C4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7747923" y="2459792"/>
            <a:ext cx="57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nl" sz="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Print</a:t>
            </a:r>
            <a:endParaRPr b="1" i="1" sz="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PANTONE</a:t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CMYK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656895" y="2459792"/>
            <a:ext cx="57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nl" sz="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Online</a:t>
            </a:r>
            <a:endParaRPr b="1" i="1" sz="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RGB</a:t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HEX #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8194216" y="2459792"/>
            <a:ext cx="85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2645 C</a:t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24 / 29 / 0 / 0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7019075" y="2459792"/>
            <a:ext cx="85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183 / 172 / 232</a:t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B7ACE8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7756650" y="2809864"/>
            <a:ext cx="57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nl" sz="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Print</a:t>
            </a:r>
            <a:endParaRPr b="1" i="1" sz="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PANTONE</a:t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CMYK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656895" y="2817070"/>
            <a:ext cx="57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nl" sz="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Online</a:t>
            </a:r>
            <a:endParaRPr b="1" i="1" sz="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RGB</a:t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HEX #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202943" y="2809858"/>
            <a:ext cx="85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7710 C</a:t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81 / 0 / 23 / 0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7019075" y="2817064"/>
            <a:ext cx="85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 / 167 / 181</a:t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00A7B5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7761454" y="3160608"/>
            <a:ext cx="57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nl" sz="700">
                <a:solidFill>
                  <a:srgbClr val="F6F7F8"/>
                </a:solidFill>
                <a:latin typeface="Lora"/>
                <a:ea typeface="Lora"/>
                <a:cs typeface="Lora"/>
                <a:sym typeface="Lora"/>
              </a:rPr>
              <a:t>Print</a:t>
            </a:r>
            <a:endParaRPr b="1" i="1" sz="700">
              <a:solidFill>
                <a:srgbClr val="F6F7F8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PANTONE</a:t>
            </a:r>
            <a:endParaRPr sz="600">
              <a:solidFill>
                <a:srgbClr val="F6F7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CMYK</a:t>
            </a:r>
            <a:endParaRPr sz="700">
              <a:solidFill>
                <a:srgbClr val="F6F7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6656895" y="3160608"/>
            <a:ext cx="57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nl" sz="700">
                <a:solidFill>
                  <a:srgbClr val="F6F7F8"/>
                </a:solidFill>
                <a:latin typeface="Lora"/>
                <a:ea typeface="Lora"/>
                <a:cs typeface="Lora"/>
                <a:sym typeface="Lora"/>
              </a:rPr>
              <a:t>Online</a:t>
            </a:r>
            <a:endParaRPr b="1" i="1" sz="700">
              <a:solidFill>
                <a:srgbClr val="F6F7F8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RGB</a:t>
            </a:r>
            <a:endParaRPr sz="600">
              <a:solidFill>
                <a:srgbClr val="F6F7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HEX #</a:t>
            </a:r>
            <a:endParaRPr sz="700">
              <a:solidFill>
                <a:srgbClr val="F6F7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8207746" y="3160608"/>
            <a:ext cx="85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6F7F8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648 C</a:t>
            </a:r>
            <a:endParaRPr sz="600">
              <a:solidFill>
                <a:srgbClr val="F6F7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100 / 71 / 9 / 58</a:t>
            </a:r>
            <a:endParaRPr sz="700">
              <a:solidFill>
                <a:srgbClr val="F6F7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019075" y="3160608"/>
            <a:ext cx="85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6F7F8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0 / 46 / 93</a:t>
            </a:r>
            <a:endParaRPr sz="600">
              <a:solidFill>
                <a:srgbClr val="F6F7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60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002E5D</a:t>
            </a:r>
            <a:endParaRPr sz="700">
              <a:solidFill>
                <a:srgbClr val="F6F7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6226212" y="1925550"/>
            <a:ext cx="942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85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Secondary</a:t>
            </a:r>
            <a:endParaRPr sz="850">
              <a:solidFill>
                <a:srgbClr val="F6F7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6330827" y="975000"/>
            <a:ext cx="261000" cy="261000"/>
          </a:xfrm>
          <a:prstGeom prst="rect">
            <a:avLst/>
          </a:prstGeom>
          <a:solidFill>
            <a:srgbClr val="FDDA24"/>
          </a:solidFill>
          <a:ln cap="flat" cmpd="sng" w="9525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6330827" y="1322250"/>
            <a:ext cx="261000" cy="261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6330827" y="1669500"/>
            <a:ext cx="261000" cy="26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6330827" y="2228602"/>
            <a:ext cx="261000" cy="261000"/>
          </a:xfrm>
          <a:prstGeom prst="rect">
            <a:avLst/>
          </a:prstGeom>
          <a:solidFill>
            <a:srgbClr val="D6D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6330827" y="2575852"/>
            <a:ext cx="261000" cy="261000"/>
          </a:xfrm>
          <a:prstGeom prst="rect">
            <a:avLst/>
          </a:prstGeom>
          <a:solidFill>
            <a:srgbClr val="B7A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6330827" y="2923102"/>
            <a:ext cx="261000" cy="2610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6330827" y="3270352"/>
            <a:ext cx="261000" cy="261000"/>
          </a:xfrm>
          <a:prstGeom prst="rect">
            <a:avLst/>
          </a:prstGeom>
          <a:solidFill>
            <a:srgbClr val="002E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4259475" y="1426875"/>
            <a:ext cx="1503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850">
                <a:solidFill>
                  <a:srgbClr val="F6F7F8"/>
                </a:solidFill>
                <a:latin typeface="Lora"/>
                <a:ea typeface="Lora"/>
                <a:cs typeface="Lora"/>
                <a:sym typeface="Lora"/>
              </a:rPr>
              <a:t>Lora</a:t>
            </a:r>
            <a:r>
              <a:rPr lang="nl" sz="850">
                <a:solidFill>
                  <a:srgbClr val="F6F7F8"/>
                </a:solidFill>
                <a:latin typeface="Lora"/>
                <a:ea typeface="Lora"/>
                <a:cs typeface="Lora"/>
                <a:sym typeface="Lora"/>
              </a:rPr>
              <a:t> is used for longer headlines and subhead, also it can be used for body copy.</a:t>
            </a:r>
            <a:endParaRPr sz="850">
              <a:solidFill>
                <a:srgbClr val="F6F7F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4259480" y="2528600"/>
            <a:ext cx="1533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85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Inter</a:t>
            </a:r>
            <a:r>
              <a:rPr lang="nl" sz="850">
                <a:solidFill>
                  <a:srgbClr val="F6F7F8"/>
                </a:solidFill>
                <a:latin typeface="Inter"/>
                <a:ea typeface="Inter"/>
                <a:cs typeface="Inter"/>
                <a:sym typeface="Inter"/>
              </a:rPr>
              <a:t> is used for captions, body copy, or other detailed uses only.</a:t>
            </a:r>
            <a:endParaRPr sz="850">
              <a:solidFill>
                <a:srgbClr val="F6F7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8" name="Google Shape;118;p14"/>
          <p:cNvCxnSpPr>
            <a:stCxn id="78" idx="3"/>
            <a:endCxn id="116" idx="1"/>
          </p:cNvCxnSpPr>
          <p:nvPr/>
        </p:nvCxnSpPr>
        <p:spPr>
          <a:xfrm>
            <a:off x="4000818" y="1780875"/>
            <a:ext cx="25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4"/>
          <p:cNvCxnSpPr>
            <a:stCxn id="79" idx="3"/>
            <a:endCxn id="117" idx="1"/>
          </p:cNvCxnSpPr>
          <p:nvPr/>
        </p:nvCxnSpPr>
        <p:spPr>
          <a:xfrm>
            <a:off x="4000818" y="2817200"/>
            <a:ext cx="25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0" name="Google Shape;120;p14" title="sdf logo new whit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6630" y="2147450"/>
            <a:ext cx="1769971" cy="451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15"/>
          <p:cNvCxnSpPr/>
          <p:nvPr/>
        </p:nvCxnSpPr>
        <p:spPr>
          <a:xfrm>
            <a:off x="274600" y="425281"/>
            <a:ext cx="8597400" cy="0"/>
          </a:xfrm>
          <a:prstGeom prst="straightConnector1">
            <a:avLst/>
          </a:prstGeom>
          <a:noFill/>
          <a:ln cap="flat" cmpd="sng" w="9525">
            <a:solidFill>
              <a:srgbClr val="FFDA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5"/>
          <p:cNvSpPr txBox="1"/>
          <p:nvPr/>
        </p:nvSpPr>
        <p:spPr>
          <a:xfrm>
            <a:off x="3418899" y="59672"/>
            <a:ext cx="230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Brand Guidelines </a:t>
            </a:r>
            <a:r>
              <a:rPr lang="nl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2026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176675" y="59872"/>
            <a:ext cx="291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nl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Stellar Development Foundation</a:t>
            </a:r>
            <a:endParaRPr b="1" i="1"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8" name="Google Shape;128;p15"/>
          <p:cNvSpPr txBox="1"/>
          <p:nvPr>
            <p:ph idx="12" type="sldNum"/>
          </p:nvPr>
        </p:nvSpPr>
        <p:spPr>
          <a:xfrm>
            <a:off x="8421431" y="98842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i="1" lang="nl" sz="850">
                <a:solidFill>
                  <a:srgbClr val="0F0F0F"/>
                </a:solidFill>
                <a:latin typeface="Lora"/>
                <a:ea typeface="Lora"/>
                <a:cs typeface="Lora"/>
                <a:sym typeface="Lora"/>
              </a:rPr>
              <a:t>P. 0</a:t>
            </a:r>
            <a:fld id="{00000000-1234-1234-1234-123412341234}" type="slidenum">
              <a:rPr b="1" i="1" lang="nl" sz="850">
                <a:solidFill>
                  <a:srgbClr val="0F0F0F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b="1" i="1" sz="850">
              <a:solidFill>
                <a:srgbClr val="0F0F0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275750" y="395584"/>
            <a:ext cx="105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Graphics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275735" y="685705"/>
            <a:ext cx="2417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8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fine-dotted textures, fluid gradients, and subtle noise to create a sense of depth and atmospheric movement.</a:t>
            </a:r>
            <a:endParaRPr sz="8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3209405" y="467784"/>
            <a:ext cx="105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Highlights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32" name="Google Shape;132;p15" title="Vector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9809" y="2839080"/>
            <a:ext cx="931398" cy="67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title="Vector 1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7092" y="860800"/>
            <a:ext cx="989136" cy="328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title="Vector 16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543" y="2454364"/>
            <a:ext cx="959930" cy="236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title="Vector 13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0132" y="2386698"/>
            <a:ext cx="1083056" cy="301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title="Group 516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20319" y="1565956"/>
            <a:ext cx="1222681" cy="133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title="Group 517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34540" y="1396047"/>
            <a:ext cx="428148" cy="3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title="Vector 180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71228" y="3269265"/>
            <a:ext cx="888560" cy="204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title="Vector 156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32476" y="3255185"/>
            <a:ext cx="1198368" cy="178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title="Vector 153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216324" y="2154567"/>
            <a:ext cx="1198368" cy="152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5" title="Vector 140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760245" y="1829144"/>
            <a:ext cx="1142830" cy="125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 title="Vector 144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760240" y="2085193"/>
            <a:ext cx="1142839" cy="10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 title="Vector 179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382174" y="1905339"/>
            <a:ext cx="332900" cy="381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 title="Vector 182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340588" y="1516801"/>
            <a:ext cx="949840" cy="221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 title="Group 519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417637" y="2440326"/>
            <a:ext cx="262000" cy="417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 title="Vector 151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806808" y="1319862"/>
            <a:ext cx="1049703" cy="116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 title="Group 520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928233" y="2755874"/>
            <a:ext cx="806853" cy="204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 title="Vector 152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201005" y="1215881"/>
            <a:ext cx="1229005" cy="1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 title="Vector 161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3396484" y="1885810"/>
            <a:ext cx="838047" cy="121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 title="Vector 150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3204169" y="909415"/>
            <a:ext cx="1222679" cy="158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 title="Vector 138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 rot="10800000">
            <a:off x="3290660" y="3054180"/>
            <a:ext cx="1049696" cy="6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 title="Vector 181.png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 rot="10800000">
            <a:off x="5165207" y="3090227"/>
            <a:ext cx="332905" cy="34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 title="Ellipse 3.png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275750" y="2405625"/>
            <a:ext cx="1142825" cy="114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 title="Mask group (2).png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85024" y="1128776"/>
            <a:ext cx="1662450" cy="166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5" title="Group (1).png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1584225" y="2455909"/>
            <a:ext cx="1142825" cy="1146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 title="09 Yellowish Gradient Texture Background 1.png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1584225" y="1423549"/>
            <a:ext cx="1229000" cy="846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" name="Google Shape;161;p16"/>
          <p:cNvCxnSpPr/>
          <p:nvPr/>
        </p:nvCxnSpPr>
        <p:spPr>
          <a:xfrm>
            <a:off x="274600" y="425281"/>
            <a:ext cx="8597400" cy="0"/>
          </a:xfrm>
          <a:prstGeom prst="straightConnector1">
            <a:avLst/>
          </a:prstGeom>
          <a:noFill/>
          <a:ln cap="flat" cmpd="sng" w="9525">
            <a:solidFill>
              <a:srgbClr val="FFDA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16"/>
          <p:cNvSpPr txBox="1"/>
          <p:nvPr/>
        </p:nvSpPr>
        <p:spPr>
          <a:xfrm>
            <a:off x="3418899" y="59672"/>
            <a:ext cx="230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Brand Guidelines 2026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176675" y="59872"/>
            <a:ext cx="291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nl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Stellar Development Foundation</a:t>
            </a:r>
            <a:endParaRPr b="1" i="1"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4" name="Google Shape;164;p16"/>
          <p:cNvSpPr txBox="1"/>
          <p:nvPr>
            <p:ph idx="12" type="sldNum"/>
          </p:nvPr>
        </p:nvSpPr>
        <p:spPr>
          <a:xfrm>
            <a:off x="8421431" y="98842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i="1" lang="nl" sz="850">
                <a:solidFill>
                  <a:srgbClr val="0F0F0F"/>
                </a:solidFill>
                <a:latin typeface="Lora"/>
                <a:ea typeface="Lora"/>
                <a:cs typeface="Lora"/>
                <a:sym typeface="Lora"/>
              </a:rPr>
              <a:t>P. 0</a:t>
            </a:r>
            <a:fld id="{00000000-1234-1234-1234-123412341234}" type="slidenum">
              <a:rPr b="1" i="1" lang="nl" sz="850">
                <a:solidFill>
                  <a:srgbClr val="0F0F0F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b="1" i="1" sz="850">
              <a:solidFill>
                <a:srgbClr val="0F0F0F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65" name="Google Shape;165;p16" title="Icon Library Update-20260129-B.png"/>
          <p:cNvPicPr preferRelativeResize="0"/>
          <p:nvPr/>
        </p:nvPicPr>
        <p:blipFill rotWithShape="1">
          <a:blip r:embed="rId3">
            <a:alphaModFix/>
          </a:blip>
          <a:srcRect b="7055" l="0" r="54156" t="17084"/>
          <a:stretch/>
        </p:blipFill>
        <p:spPr>
          <a:xfrm>
            <a:off x="1604238" y="489047"/>
            <a:ext cx="3207798" cy="298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 title="Icon Library Update-20260129-B.png"/>
          <p:cNvPicPr preferRelativeResize="0"/>
          <p:nvPr/>
        </p:nvPicPr>
        <p:blipFill rotWithShape="1">
          <a:blip r:embed="rId3">
            <a:alphaModFix/>
          </a:blip>
          <a:srcRect b="5446" l="45201" r="15304" t="17082"/>
          <a:stretch/>
        </p:blipFill>
        <p:spPr>
          <a:xfrm>
            <a:off x="4776313" y="489247"/>
            <a:ext cx="2763448" cy="3049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275750" y="395575"/>
            <a:ext cx="152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Icon Guidelines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>
            <p:ph idx="12" type="sldNum"/>
          </p:nvPr>
        </p:nvSpPr>
        <p:spPr>
          <a:xfrm>
            <a:off x="8472458" y="3263844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173" name="Google Shape;173;p17" title="ap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5671" y="2877540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title="assets_RW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0500" y="582350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title="blockchai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25225" y="1129940"/>
            <a:ext cx="578600" cy="57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blockchain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43675" y="1697514"/>
            <a:ext cx="615350" cy="61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title="brain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16881" y="1191395"/>
            <a:ext cx="440100" cy="440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title="building_blocks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93175" y="643532"/>
            <a:ext cx="487525" cy="48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title="cash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85276" y="2928151"/>
            <a:ext cx="508900" cy="5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title="currency_exchange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38425" y="2294452"/>
            <a:ext cx="578600" cy="57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title="desktop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939432" y="2993175"/>
            <a:ext cx="501048" cy="501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title="digital_currency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740000" y="2884975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title="distribution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121172" y="2993164"/>
            <a:ext cx="501048" cy="501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7" title="documents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562356" y="2942739"/>
            <a:ext cx="501048" cy="501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7" title="eye_with_magnifying_glass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377050" y="2974614"/>
            <a:ext cx="501048" cy="501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7" title="gear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132875" y="2343624"/>
            <a:ext cx="508900" cy="5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 title="globe_showing_movement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129915" y="1753801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 title="growth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208964" y="1205699"/>
            <a:ext cx="440113" cy="440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7" title="Interoperability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154675" y="594099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7" title="laptop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497865" y="2343625"/>
            <a:ext cx="508900" cy="5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7" title="liquidity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3121172" y="2364875"/>
            <a:ext cx="508900" cy="5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7" title="lock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4957286" y="2364875"/>
            <a:ext cx="508900" cy="5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7" title="megaphone.png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4416683" y="2364875"/>
            <a:ext cx="508900" cy="5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 title="mobile_payment.png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3781679" y="2376075"/>
            <a:ext cx="508900" cy="5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7" title="mobile_phone.png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555973" y="1744509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7" title="network.png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4957280" y="1736575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 title="on_off_ramps.png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4358581" y="1755135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7" title="peer_to_peer_lending.png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3759888" y="1773694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7" title="pencil.png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3121172" y="1736575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7" title="people_interaction.png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5545376" y="1145374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7" title="scale.png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4957280" y="1163933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7" title="skyscraper.png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4358581" y="1145374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7" title="smart_contracts.png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3759888" y="1171318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7" title="tokens.png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3121172" y="1171318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7" title="tools.png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5555973" y="613994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7" title="trading.png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4957280" y="606060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7" title="user_individual_person.png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4358581" y="587501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7" title="wallet.png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3759888" y="606060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7" title="wifi.png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3121172" y="606085"/>
            <a:ext cx="508902" cy="5089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Google Shape;210;p17"/>
          <p:cNvCxnSpPr/>
          <p:nvPr/>
        </p:nvCxnSpPr>
        <p:spPr>
          <a:xfrm>
            <a:off x="274600" y="425281"/>
            <a:ext cx="8597400" cy="0"/>
          </a:xfrm>
          <a:prstGeom prst="straightConnector1">
            <a:avLst/>
          </a:prstGeom>
          <a:noFill/>
          <a:ln cap="flat" cmpd="sng" w="9525">
            <a:solidFill>
              <a:srgbClr val="FFDA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17"/>
          <p:cNvSpPr txBox="1"/>
          <p:nvPr/>
        </p:nvSpPr>
        <p:spPr>
          <a:xfrm>
            <a:off x="3418899" y="59672"/>
            <a:ext cx="230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Brand Guidelines 2026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2" name="Google Shape;212;p17"/>
          <p:cNvSpPr txBox="1"/>
          <p:nvPr/>
        </p:nvSpPr>
        <p:spPr>
          <a:xfrm>
            <a:off x="176675" y="59872"/>
            <a:ext cx="291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nl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Stellar Development Foundation</a:t>
            </a:r>
            <a:endParaRPr b="1" i="1"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3" name="Google Shape;213;p17"/>
          <p:cNvSpPr txBox="1"/>
          <p:nvPr>
            <p:ph idx="12" type="sldNum"/>
          </p:nvPr>
        </p:nvSpPr>
        <p:spPr>
          <a:xfrm>
            <a:off x="8421431" y="98842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i="1" lang="nl" sz="850">
                <a:solidFill>
                  <a:srgbClr val="0F0F0F"/>
                </a:solidFill>
                <a:latin typeface="Lora"/>
                <a:ea typeface="Lora"/>
                <a:cs typeface="Lora"/>
                <a:sym typeface="Lora"/>
              </a:rPr>
              <a:t>P. 0</a:t>
            </a:r>
            <a:fld id="{00000000-1234-1234-1234-123412341234}" type="slidenum">
              <a:rPr b="1" i="1" lang="nl" sz="850">
                <a:solidFill>
                  <a:srgbClr val="0F0F0F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b="1" i="1" sz="850">
              <a:solidFill>
                <a:srgbClr val="0F0F0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4" name="Google Shape;214;p17"/>
          <p:cNvSpPr txBox="1"/>
          <p:nvPr/>
        </p:nvSpPr>
        <p:spPr>
          <a:xfrm>
            <a:off x="274600" y="517838"/>
            <a:ext cx="2384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Icons for light background.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All icon files linked </a:t>
            </a:r>
            <a:r>
              <a:rPr lang="nl" sz="1200" u="sng">
                <a:solidFill>
                  <a:schemeClr val="hlink"/>
                </a:solidFill>
                <a:latin typeface="Lora"/>
                <a:ea typeface="Lora"/>
                <a:cs typeface="Lora"/>
                <a:sym typeface="Lora"/>
                <a:hlinkClick r:id="rId40"/>
              </a:rPr>
              <a:t>here</a:t>
            </a:r>
            <a:r>
              <a:rPr lang="nl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 txBox="1"/>
          <p:nvPr>
            <p:ph idx="12" type="sldNum"/>
          </p:nvPr>
        </p:nvSpPr>
        <p:spPr>
          <a:xfrm>
            <a:off x="8472458" y="3263844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220" name="Google Shape;220;p18" title="ap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5671" y="2877540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8" title="assets_RWA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0500" y="582350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8" title="blockchain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25225" y="1129940"/>
            <a:ext cx="578600" cy="57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8" title="blockchain2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43675" y="1697514"/>
            <a:ext cx="615350" cy="61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8" title="brain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6881" y="1191395"/>
            <a:ext cx="440100" cy="440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8" title="building_blocks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93175" y="643532"/>
            <a:ext cx="487525" cy="48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8" title="cash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85276" y="2928151"/>
            <a:ext cx="508900" cy="5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8" title="currency_exchange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38425" y="2294452"/>
            <a:ext cx="578600" cy="57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8" title="develop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39432" y="2993175"/>
            <a:ext cx="501048" cy="501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8" title="digital_currency.png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740000" y="2884975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8" title="distribution.png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121172" y="2993164"/>
            <a:ext cx="501048" cy="501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8" title="documents.png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562356" y="2942739"/>
            <a:ext cx="501048" cy="501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8" title="eye_w-th_magnifying_glass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377050" y="2974614"/>
            <a:ext cx="501048" cy="501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8" title="gear.png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132875" y="2343624"/>
            <a:ext cx="508900" cy="5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8" title="globe_showing_movement.png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129915" y="1753801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8" title="growth.png"/>
          <p:cNvPicPr preferRelativeResize="0"/>
          <p:nvPr/>
        </p:nvPicPr>
        <p:blipFill rotWithShape="1">
          <a:blip r:embed="rId18">
            <a:alphaModFix/>
          </a:blip>
          <a:srcRect b="0" l="0" r="10" t="0"/>
          <a:stretch/>
        </p:blipFill>
        <p:spPr>
          <a:xfrm>
            <a:off x="6208964" y="1205699"/>
            <a:ext cx="440113" cy="440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8" title="Interoperability.png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154675" y="594099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8" title="laptop.png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497865" y="2343625"/>
            <a:ext cx="508900" cy="5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8" title="liquidity_pool.png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121172" y="2364875"/>
            <a:ext cx="508900" cy="5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8" title="lock.png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957286" y="2364875"/>
            <a:ext cx="508900" cy="5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8" title="megaphone.png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416683" y="2364875"/>
            <a:ext cx="508900" cy="5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8" title="mobile_payment.png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3781679" y="2376075"/>
            <a:ext cx="508900" cy="5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8" title="mobile_phone.png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555973" y="1744509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8" title="network.png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4957280" y="1736575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8" title="on_off_ramp.png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4358581" y="1755135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8" title="peer_to_peer_lending.png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3759888" y="1773694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8" title="pencil.png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3121172" y="1736575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8" title="people_interacting.png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5545376" y="1145374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8" title="scale.png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4957280" y="1163933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8" title="skyscraper.png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4358581" y="1145374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8" title="smart_contracts.png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3759888" y="1171318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8" title="tokens.png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3121172" y="1171318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8" title="tools.png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5555973" y="613994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8" title="trading.png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4957280" y="606060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8" title="user_individual_person.png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4358581" y="587501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8" title="wallet.png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3759888" y="606060"/>
            <a:ext cx="508902" cy="50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8" title="wiFi.png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3121172" y="606085"/>
            <a:ext cx="508902" cy="5089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" name="Google Shape;257;p18"/>
          <p:cNvCxnSpPr/>
          <p:nvPr/>
        </p:nvCxnSpPr>
        <p:spPr>
          <a:xfrm>
            <a:off x="274600" y="425281"/>
            <a:ext cx="8597400" cy="0"/>
          </a:xfrm>
          <a:prstGeom prst="straightConnector1">
            <a:avLst/>
          </a:prstGeom>
          <a:noFill/>
          <a:ln cap="flat" cmpd="sng" w="9525">
            <a:solidFill>
              <a:srgbClr val="FFDA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18"/>
          <p:cNvSpPr txBox="1"/>
          <p:nvPr/>
        </p:nvSpPr>
        <p:spPr>
          <a:xfrm>
            <a:off x="3418899" y="59672"/>
            <a:ext cx="230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Brand Guidelines 2026</a:t>
            </a:r>
            <a:endParaRPr sz="9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9" name="Google Shape;259;p18"/>
          <p:cNvSpPr txBox="1"/>
          <p:nvPr/>
        </p:nvSpPr>
        <p:spPr>
          <a:xfrm>
            <a:off x="176675" y="59872"/>
            <a:ext cx="291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nl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Stellar Development Foundation</a:t>
            </a:r>
            <a:endParaRPr b="1" i="1" sz="9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0" name="Google Shape;260;p18"/>
          <p:cNvSpPr txBox="1"/>
          <p:nvPr>
            <p:ph idx="12" type="sldNum"/>
          </p:nvPr>
        </p:nvSpPr>
        <p:spPr>
          <a:xfrm>
            <a:off x="8421431" y="98842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i="1" lang="nl" sz="85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P. 0</a:t>
            </a:r>
            <a:fld id="{00000000-1234-1234-1234-123412341234}" type="slidenum">
              <a:rPr b="1" i="1" lang="nl" sz="85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b="1" i="1" sz="85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274600" y="517825"/>
            <a:ext cx="242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Icons for</a:t>
            </a:r>
            <a:r>
              <a:rPr lang="nl" sz="12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dark background.</a:t>
            </a:r>
            <a:endParaRPr sz="12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All icon files linked </a:t>
            </a:r>
            <a:r>
              <a:rPr lang="nl" sz="1200" u="sng">
                <a:solidFill>
                  <a:srgbClr val="00A7B5"/>
                </a:solidFill>
                <a:latin typeface="Lora"/>
                <a:ea typeface="Lora"/>
                <a:cs typeface="Lora"/>
                <a:sym typeface="Lora"/>
                <a:hlinkClick r:id="rId4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r>
              <a:rPr lang="nl" sz="1200">
                <a:solidFill>
                  <a:srgbClr val="00A7B5"/>
                </a:solidFill>
                <a:latin typeface="Lora"/>
                <a:ea typeface="Lora"/>
                <a:cs typeface="Lora"/>
                <a:sym typeface="Lora"/>
              </a:rPr>
              <a:t>.</a:t>
            </a:r>
            <a:endParaRPr sz="1200">
              <a:solidFill>
                <a:srgbClr val="00A7B5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